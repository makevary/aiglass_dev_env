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376" r:id="rId3"/>
    <p:sldId id="297" r:id="rId4"/>
    <p:sldId id="320" r:id="rId5"/>
    <p:sldId id="378" r:id="rId6"/>
    <p:sldId id="380" r:id="rId7"/>
    <p:sldId id="382" r:id="rId8"/>
    <p:sldId id="328" r:id="rId9"/>
    <p:sldId id="379" r:id="rId10"/>
    <p:sldId id="383" r:id="rId11"/>
    <p:sldId id="277" r:id="rId12"/>
  </p:sldIdLst>
  <p:sldSz cx="9144000" cy="6858000" type="screen4x3"/>
  <p:notesSz cx="6858000" cy="9144000"/>
  <p:custDataLst>
    <p:tags r:id="rId14"/>
  </p:custData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6CB50A6-AF2E-4815-B8F3-423A39CC8D45}">
          <p14:sldIdLst>
            <p14:sldId id="256"/>
          </p14:sldIdLst>
        </p14:section>
        <p14:section name="Descriptions" id="{BCEE2CCD-F8A3-472E-8B32-D0589C7B5B67}">
          <p14:sldIdLst>
            <p14:sldId id="376"/>
            <p14:sldId id="297"/>
            <p14:sldId id="320"/>
          </p14:sldIdLst>
        </p14:section>
        <p14:section name="Proposal" id="{A0967C1B-05A9-42CD-9AAD-4765FAD20437}">
          <p14:sldIdLst>
            <p14:sldId id="378"/>
            <p14:sldId id="380"/>
            <p14:sldId id="382"/>
            <p14:sldId id="328"/>
            <p14:sldId id="379"/>
          </p14:sldIdLst>
        </p14:section>
        <p14:section name="注意事項" id="{A4A7C405-DEE8-432A-A816-9C9EFC8C23C5}">
          <p14:sldIdLst>
            <p14:sldId id="383"/>
          </p14:sldIdLst>
        </p14:section>
        <p14:section name="End" id="{C7F7848B-4AD0-4215-81E7-0954531BFA76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CC66FF"/>
    <a:srgbClr val="FF9933"/>
    <a:srgbClr val="FF9900"/>
    <a:srgbClr val="FFCC00"/>
    <a:srgbClr val="FF3300"/>
    <a:srgbClr val="D60093"/>
    <a:srgbClr val="B0EE00"/>
    <a:srgbClr val="CCFF33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1" autoAdjust="0"/>
    <p:restoredTop sz="97430" autoAdjust="0"/>
  </p:normalViewPr>
  <p:slideViewPr>
    <p:cSldViewPr>
      <p:cViewPr varScale="1">
        <p:scale>
          <a:sx n="166" d="100"/>
          <a:sy n="166" d="100"/>
        </p:scale>
        <p:origin x="2304" y="144"/>
      </p:cViewPr>
      <p:guideLst>
        <p:guide orient="horz" pos="2160"/>
        <p:guide pos="28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2FE24-98E9-4180-A428-C5C04A181C87}" type="datetimeFigureOut">
              <a:rPr lang="zh-TW" altLang="en-US" smtClean="0"/>
              <a:t>2023/5/12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12F65-C3B0-4BC7-AC09-0D600DB311B2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12F65-C3B0-4BC7-AC09-0D600DB311B2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Wppt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571472" y="2244727"/>
            <a:ext cx="7772400" cy="684207"/>
          </a:xfrm>
        </p:spPr>
        <p:txBody>
          <a:bodyPr>
            <a:normAutofit/>
          </a:bodyPr>
          <a:lstStyle>
            <a:lvl1pPr algn="l">
              <a:defRPr sz="3600" b="1" i="0" baseline="0">
                <a:solidFill>
                  <a:srgbClr val="D8E039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简报标题 </a:t>
            </a:r>
            <a:r>
              <a:rPr lang="en-US" altLang="zh-TW" dirty="0"/>
              <a:t>PRESENTATION TITLE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71472" y="3000372"/>
            <a:ext cx="7786742" cy="642942"/>
          </a:xfrm>
        </p:spPr>
        <p:txBody>
          <a:bodyPr>
            <a:normAutofit/>
          </a:bodyPr>
          <a:lstStyle>
            <a:lvl1pPr marL="0" indent="0" algn="l">
              <a:buNone/>
              <a:defRPr sz="2800" b="0" baseline="0">
                <a:solidFill>
                  <a:srgbClr val="D8E039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演示者</a:t>
            </a:r>
            <a:r>
              <a:rPr lang="en-US" altLang="zh-TW" dirty="0"/>
              <a:t>/</a:t>
            </a:r>
            <a:r>
              <a:rPr lang="zh-TW" altLang="en-US" dirty="0"/>
              <a:t>日期 </a:t>
            </a:r>
            <a:r>
              <a:rPr lang="en-US" altLang="zh-TW" dirty="0"/>
              <a:t>Name/Date</a:t>
            </a:r>
            <a:endParaRPr lang="zh-TW" altLang="en-US" dirty="0"/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208801" y="6500834"/>
            <a:ext cx="86273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900" b="1" i="1" dirty="0">
                <a:solidFill>
                  <a:srgbClr val="E72D30"/>
                </a:solidFill>
                <a:latin typeface="+mn-lt"/>
              </a:rPr>
              <a:t>Confidential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Wppt_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287" y="193670"/>
            <a:ext cx="8353426" cy="714380"/>
          </a:xfrm>
        </p:spPr>
        <p:txBody>
          <a:bodyPr>
            <a:normAutofit/>
          </a:bodyPr>
          <a:lstStyle>
            <a:lvl1pPr algn="l">
              <a:defRPr sz="3600" b="1" baseline="0">
                <a:solidFill>
                  <a:srgbClr val="38384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标题 </a:t>
            </a:r>
            <a:r>
              <a:rPr lang="en-US" altLang="zh-TW" dirty="0"/>
              <a:t>Subject</a:t>
            </a:r>
            <a:endParaRPr lang="zh-TW" altLang="en-US" dirty="0"/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4171950" y="6591756"/>
            <a:ext cx="78970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800" b="1" i="1" baseline="0" dirty="0">
                <a:solidFill>
                  <a:srgbClr val="E72D30"/>
                </a:solidFill>
                <a:latin typeface="+mn-lt"/>
                <a:ea typeface="+mn-ea"/>
              </a:rPr>
              <a:t>Confidential</a:t>
            </a:r>
          </a:p>
        </p:txBody>
      </p:sp>
      <p:sp>
        <p:nvSpPr>
          <p:cNvPr id="11" name="矩形 10"/>
          <p:cNvSpPr/>
          <p:nvPr/>
        </p:nvSpPr>
        <p:spPr>
          <a:xfrm>
            <a:off x="8485200" y="6453538"/>
            <a:ext cx="3513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AA77629D-163C-402F-9B58-7AC7822A575A}" type="slidenum">
              <a:rPr lang="en-US" altLang="zh-TW" sz="1050" b="0" smtClean="0">
                <a:solidFill>
                  <a:srgbClr val="383841"/>
                </a:solidFill>
                <a:latin typeface="+mn-lt"/>
                <a:ea typeface="華康中黑體" pitchFamily="49" charset="-120"/>
              </a:rPr>
              <a:t>‹#›</a:t>
            </a:fld>
            <a:endParaRPr lang="zh-TW" altLang="en-US" sz="1050" b="0" dirty="0">
              <a:solidFill>
                <a:srgbClr val="383841"/>
              </a:solidFill>
              <a:latin typeface="+mn-lt"/>
            </a:endParaRPr>
          </a:p>
        </p:txBody>
      </p:sp>
      <p:sp>
        <p:nvSpPr>
          <p:cNvPr id="14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395287" y="1214422"/>
            <a:ext cx="8353426" cy="5072098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3400" b="0">
                <a:solidFill>
                  <a:schemeClr val="tx1"/>
                </a:solidFill>
                <a:latin typeface="+mn-lt"/>
                <a:ea typeface="+mn-ea"/>
              </a:defRPr>
            </a:lvl1pPr>
            <a:lvl2pPr marL="742950" marR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marR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  <a:latin typeface="+mn-lt"/>
                <a:ea typeface="+mn-ea"/>
              </a:defRPr>
            </a:lvl3pPr>
            <a:lvl4pPr marL="1714500" marR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+mj-lt"/>
              <a:buAutoNum type="arabicPeriod"/>
              <a:defRPr b="0">
                <a:solidFill>
                  <a:schemeClr val="tx1"/>
                </a:solidFill>
                <a:latin typeface="+mn-lt"/>
                <a:ea typeface="+mn-ea"/>
              </a:defRPr>
            </a:lvl4pPr>
          </a:lstStyle>
          <a:p>
            <a:pPr lvl="0"/>
            <a:r>
              <a:rPr lang="zh-TW" altLang="en-US" dirty="0"/>
              <a:t>内文 </a:t>
            </a:r>
            <a:r>
              <a:rPr lang="en-US" altLang="zh-TW" dirty="0"/>
              <a:t>Content</a:t>
            </a:r>
          </a:p>
          <a:p>
            <a:pPr marL="742950" marR="0" lvl="1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TW" altLang="en-US" dirty="0"/>
              <a:t>内文 </a:t>
            </a:r>
            <a:r>
              <a:rPr lang="en-US" altLang="zh-TW" dirty="0"/>
              <a:t>Content</a:t>
            </a:r>
            <a:endParaRPr lang="zh-TW" altLang="en-US" dirty="0"/>
          </a:p>
          <a:p>
            <a:pPr marL="1143000" marR="0" lvl="2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TW" altLang="en-US" dirty="0"/>
              <a:t>内文 </a:t>
            </a:r>
            <a:r>
              <a:rPr lang="en-US" altLang="zh-TW" dirty="0"/>
              <a:t>Content</a:t>
            </a:r>
            <a:endParaRPr lang="zh-TW" altLang="en-US" dirty="0"/>
          </a:p>
          <a:p>
            <a:pPr marL="1600200" marR="0" lvl="3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TW" altLang="en-US" dirty="0"/>
              <a:t>内文 </a:t>
            </a:r>
            <a:r>
              <a:rPr lang="en-US" altLang="zh-TW" dirty="0"/>
              <a:t>Content</a:t>
            </a:r>
            <a:endParaRPr lang="zh-TW" altLang="en-US" dirty="0"/>
          </a:p>
          <a:p>
            <a:pPr marL="1600200" marR="0" lvl="3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TW" altLang="en-US" dirty="0"/>
              <a:t>内文 </a:t>
            </a:r>
            <a:r>
              <a:rPr lang="en-US" altLang="zh-TW" dirty="0"/>
              <a:t>Content</a:t>
            </a:r>
            <a:endParaRPr lang="zh-TW" altLang="en-US" dirty="0"/>
          </a:p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分隔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Wppt_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7200" y="3286124"/>
            <a:ext cx="8229600" cy="796908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rgbClr val="38384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分隔页标题 </a:t>
            </a:r>
            <a:r>
              <a:rPr lang="en-US" altLang="zh-TW" dirty="0"/>
              <a:t>Page</a:t>
            </a:r>
            <a:r>
              <a:rPr lang="zh-TW" altLang="en-US" dirty="0"/>
              <a:t> </a:t>
            </a:r>
            <a:r>
              <a:rPr lang="en-US" altLang="zh-TW" dirty="0"/>
              <a:t>Subject</a:t>
            </a:r>
            <a:endParaRPr lang="zh-TW" altLang="en-US" dirty="0"/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171950" y="6591756"/>
            <a:ext cx="78970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800" b="1" i="1" baseline="0" dirty="0">
                <a:solidFill>
                  <a:srgbClr val="E72D30"/>
                </a:solidFill>
                <a:latin typeface="+mn-lt"/>
                <a:ea typeface="+mn-ea"/>
              </a:rPr>
              <a:t>Confidential</a:t>
            </a:r>
          </a:p>
        </p:txBody>
      </p:sp>
      <p:sp>
        <p:nvSpPr>
          <p:cNvPr id="10" name="矩形 9"/>
          <p:cNvSpPr/>
          <p:nvPr/>
        </p:nvSpPr>
        <p:spPr>
          <a:xfrm>
            <a:off x="8485200" y="6453538"/>
            <a:ext cx="35137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AA77629D-163C-402F-9B58-7AC7822A575A}" type="slidenum">
              <a:rPr lang="en-US" altLang="zh-TW" sz="1050" b="0" smtClean="0">
                <a:solidFill>
                  <a:srgbClr val="383841"/>
                </a:solidFill>
                <a:latin typeface="+mn-lt"/>
                <a:ea typeface="華康中黑體" pitchFamily="49" charset="-120"/>
              </a:rPr>
              <a:t>‹#›</a:t>
            </a:fld>
            <a:endParaRPr lang="zh-TW" altLang="en-US" sz="1050" b="0" dirty="0">
              <a:solidFill>
                <a:srgbClr val="383841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頁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Wppt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2482850" y="2314570"/>
            <a:ext cx="4178300" cy="714380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rgbClr val="D8E039"/>
                </a:solidFill>
                <a:latin typeface="+mj-lt"/>
              </a:defRPr>
            </a:lvl1pPr>
          </a:lstStyle>
          <a:p>
            <a:r>
              <a:rPr lang="zh-TW" altLang="en-US" dirty="0"/>
              <a:t>谢谢 </a:t>
            </a:r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208801" y="6500834"/>
            <a:ext cx="86273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r>
              <a:rPr lang="en-US" altLang="zh-TW" sz="900" b="1" i="1" baseline="0" dirty="0">
                <a:solidFill>
                  <a:srgbClr val="E72D30"/>
                </a:solidFill>
                <a:latin typeface="+mn-lt"/>
                <a:ea typeface="+mn-ea"/>
              </a:rPr>
              <a:t>Confidential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2F1B5-F789-4D7C-B47F-B21F5E71033E}" type="datetimeFigureOut">
              <a:rPr lang="zh-TW" altLang="en-US" smtClean="0"/>
              <a:t>2023/5/12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4540F-72D1-40C0-A02A-5CADFA3854F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[6030] </a:t>
            </a:r>
            <a:r>
              <a:rPr lang="zh-TW" altLang="en-US" dirty="0"/>
              <a:t>支援</a:t>
            </a:r>
            <a:r>
              <a:rPr lang="en-US" altLang="zh-TW" dirty="0"/>
              <a:t>BLE</a:t>
            </a:r>
            <a:r>
              <a:rPr lang="zh-TW" altLang="en-US"/>
              <a:t>廣播配網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SW MAC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0A14E-BAFC-9790-A7B9-AA8EB0EB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C8604B-AC9B-2F37-A5B0-E5444F1C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前線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FAE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訪查客戶在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BLE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配網的需要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</a:t>
            </a:r>
            <a:b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整理出兩個小點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800100" lvl="1" indent="-514350">
              <a:buFont typeface="+mj-lt"/>
              <a:buAutoNum type="arabicPeriod"/>
            </a:pP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ACL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配網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BLE 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需要連線，需要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BLE stack (GATT/GAP....profile)</a:t>
            </a:r>
          </a:p>
          <a:p>
            <a:pPr marL="800100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廣播配網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無須連線，只需要廣播</a:t>
            </a:r>
            <a:r>
              <a:rPr lang="en-US" altLang="zh-TW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/SCAN</a:t>
            </a:r>
            <a:r>
              <a:rPr lang="zh-TW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9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4825" y="413665"/>
            <a:ext cx="2340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ea"/>
              </a:rPr>
              <a:t>配网（</a:t>
            </a:r>
            <a:r>
              <a:rPr lang="en-US" altLang="zh-CN" sz="2400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ea"/>
              </a:rPr>
              <a:t>ADV</a:t>
            </a:r>
            <a:r>
              <a:rPr lang="zh-CN" altLang="en-US" sz="2400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+mn-ea"/>
              </a:rPr>
              <a:t>）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1601470" y="1809750"/>
            <a:ext cx="629920" cy="1268730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1"/>
            </p:custDataLst>
          </p:nvPr>
        </p:nvSpPr>
        <p:spPr>
          <a:xfrm>
            <a:off x="1646555" y="4014470"/>
            <a:ext cx="629920" cy="1260475"/>
          </a:xfrm>
          <a:prstGeom prst="round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5786755" y="1808480"/>
            <a:ext cx="629920" cy="1268730"/>
          </a:xfrm>
          <a:prstGeom prst="roundRect">
            <a:avLst/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5787390" y="4005580"/>
            <a:ext cx="629920" cy="1268730"/>
          </a:xfrm>
          <a:prstGeom prst="roundRect">
            <a:avLst/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69085" y="1442720"/>
            <a:ext cx="74803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DUT</a:t>
            </a: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646555" y="3608705"/>
            <a:ext cx="748030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</a:rPr>
              <a:t>DUT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42305" y="1423670"/>
            <a:ext cx="807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PHONE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786755" y="3563620"/>
            <a:ext cx="807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PHONE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332355" y="2360295"/>
            <a:ext cx="138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B050"/>
                </a:solidFill>
              </a:rPr>
              <a:t>Scanner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384675" y="230378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7030A0"/>
                </a:solidFill>
              </a:rPr>
              <a:t>Legacy ADV</a:t>
            </a: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952115" y="1791970"/>
            <a:ext cx="207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7030A0"/>
                </a:solidFill>
              </a:rPr>
              <a:t>ADV</a:t>
            </a:r>
            <a:r>
              <a:rPr lang="zh-CN" altLang="en-US" b="1">
                <a:solidFill>
                  <a:srgbClr val="7030A0"/>
                </a:solidFill>
              </a:rPr>
              <a:t>：</a:t>
            </a:r>
            <a:r>
              <a:rPr lang="en-US" altLang="zh-CN" b="1">
                <a:solidFill>
                  <a:srgbClr val="7030A0"/>
                </a:solidFill>
              </a:rPr>
              <a:t>AP SSID/PSW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394585" y="4488180"/>
            <a:ext cx="1388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B050"/>
                </a:solidFill>
              </a:rPr>
              <a:t>Legacy ADV</a:t>
            </a: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392295" y="446405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7030A0"/>
                </a:solidFill>
              </a:rPr>
              <a:t>Scanner</a:t>
            </a: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2952115" y="5229225"/>
            <a:ext cx="207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B050"/>
                </a:solidFill>
              </a:rPr>
              <a:t>ADV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STA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000" dirty="0"/>
              <a:t>由於廣播</a:t>
            </a:r>
            <a:r>
              <a:rPr lang="en-US" altLang="zh-TW" sz="2000" dirty="0"/>
              <a:t>/scan</a:t>
            </a:r>
            <a:r>
              <a:rPr lang="zh-TW" altLang="en-US" sz="2000" dirty="0"/>
              <a:t>無需</a:t>
            </a:r>
            <a:r>
              <a:rPr lang="en-US" altLang="zh-TW" sz="2000" dirty="0"/>
              <a:t>BLE stack</a:t>
            </a:r>
            <a:r>
              <a:rPr lang="zh-TW" altLang="en-US" sz="2000" dirty="0"/>
              <a:t>，直接對</a:t>
            </a:r>
            <a:r>
              <a:rPr lang="en-US" altLang="zh-TW" sz="2000" dirty="0"/>
              <a:t>controller (Link Layer)</a:t>
            </a:r>
            <a:r>
              <a:rPr lang="zh-TW" altLang="en-US" sz="2000" dirty="0"/>
              <a:t>發出</a:t>
            </a:r>
            <a:r>
              <a:rPr lang="en-US" altLang="zh-TW" sz="2000" dirty="0"/>
              <a:t>HCI </a:t>
            </a:r>
            <a:r>
              <a:rPr lang="en-US" altLang="zh-TW" sz="2000" dirty="0" err="1"/>
              <a:t>cmd</a:t>
            </a:r>
            <a:r>
              <a:rPr lang="zh-TW" altLang="en-US" sz="2000" dirty="0"/>
              <a:t>命令它工作，希望藉由</a:t>
            </a:r>
            <a:r>
              <a:rPr lang="en-US" altLang="zh-TW" sz="2000" dirty="0"/>
              <a:t>ssv6x5x-sw_ble.bin</a:t>
            </a:r>
            <a:r>
              <a:rPr lang="zh-TW" altLang="en-US" sz="2000" dirty="0"/>
              <a:t>，但不需要</a:t>
            </a:r>
            <a:r>
              <a:rPr lang="en-US" altLang="zh-TW" sz="2000" dirty="0"/>
              <a:t>Linux </a:t>
            </a:r>
            <a:r>
              <a:rPr lang="en-US" altLang="zh-TW" sz="2000" dirty="0" err="1"/>
              <a:t>BlueZ</a:t>
            </a:r>
            <a:r>
              <a:rPr lang="zh-TW" altLang="en-US" sz="2000" dirty="0"/>
              <a:t>協助下，完成我們的目標。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C25F2A-064F-AE88-E9BB-1F46C8CD7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2575"/>
            <a:ext cx="9144000" cy="4336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5D7D80-E042-8483-5C87-5951F009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Host driver</a:t>
            </a:r>
            <a:r>
              <a:rPr lang="zh-TW" altLang="en-US" dirty="0"/>
              <a:t>啟動</a:t>
            </a:r>
            <a:r>
              <a:rPr lang="en-US" altLang="zh-TW" dirty="0"/>
              <a:t>BLE</a:t>
            </a:r>
            <a:r>
              <a:rPr lang="zh-TW" altLang="en-US" dirty="0"/>
              <a:t>收發</a:t>
            </a:r>
            <a:r>
              <a:rPr lang="en-US" altLang="zh-TW" dirty="0"/>
              <a:t>app data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85FF08-D1F9-BAB9-77CE-1AD56C23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編輯</a:t>
            </a:r>
            <a:r>
              <a:rPr lang="en-US" altLang="zh-TW" sz="1600" dirty="0"/>
              <a:t>config.mak,</a:t>
            </a:r>
            <a:r>
              <a:rPr lang="zh-TW" altLang="en-US" sz="1600" dirty="0"/>
              <a:t> 打開</a:t>
            </a:r>
            <a:r>
              <a:rPr lang="en-US" altLang="zh-TW" sz="1600" dirty="0"/>
              <a:t>compiler flag,</a:t>
            </a:r>
            <a:r>
              <a:rPr lang="zh-TW" altLang="en-US" sz="1600" dirty="0"/>
              <a:t> </a:t>
            </a:r>
            <a:r>
              <a:rPr lang="en-US" altLang="zh-TW" sz="1600" dirty="0"/>
              <a:t>(</a:t>
            </a:r>
            <a:r>
              <a:rPr lang="zh-TW" altLang="en-US" sz="1600" dirty="0"/>
              <a:t>新增</a:t>
            </a:r>
            <a:r>
              <a:rPr lang="en-US" altLang="zh-TW" sz="1600" dirty="0"/>
              <a:t>CONFIG</a:t>
            </a:r>
            <a:r>
              <a:rPr lang="zh-TW" altLang="en-US" sz="1600" dirty="0"/>
              <a:t>定義</a:t>
            </a:r>
            <a:r>
              <a:rPr lang="en-US" altLang="zh-TW" sz="1600" b="1" dirty="0">
                <a:solidFill>
                  <a:srgbClr val="9900CC"/>
                </a:solidFill>
              </a:rPr>
              <a:t>BLE_USE_LL_ONLY</a:t>
            </a:r>
            <a:r>
              <a:rPr lang="en-US" altLang="zh-TW" sz="1600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編譯</a:t>
            </a:r>
            <a:r>
              <a:rPr lang="en-US" altLang="zh-TW" sz="1600" dirty="0"/>
              <a:t>driver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修改</a:t>
            </a:r>
            <a:r>
              <a:rPr lang="en-US" altLang="zh-TW" sz="1600" dirty="0"/>
              <a:t>ssv6x5x-wifi.cfg</a:t>
            </a:r>
            <a:r>
              <a:rPr lang="zh-TW" altLang="en-US" sz="1600" dirty="0"/>
              <a:t>使用</a:t>
            </a:r>
            <a:r>
              <a:rPr lang="en-US" altLang="zh-TW" sz="1600" dirty="0"/>
              <a:t>BLE firmware(ssv6x5x-sw_ble.bin)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載入</a:t>
            </a:r>
            <a:r>
              <a:rPr lang="en-US" altLang="zh-TW" sz="1600" dirty="0"/>
              <a:t>driver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C18FE74-977A-4D72-875E-52C763F78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913198"/>
              </p:ext>
            </p:extLst>
          </p:nvPr>
        </p:nvGraphicFramePr>
        <p:xfrm>
          <a:off x="1043608" y="3926552"/>
          <a:ext cx="3528392" cy="1950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208">
                <a:tc>
                  <a:txBody>
                    <a:bodyPr/>
                    <a:lstStyle/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################################################################################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 Firmware setting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 Priority.1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insmod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parameter "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cfgfirmwarepath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" (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insmod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的時候帶入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zh-TW" altLang="en-US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 Priority.2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firmware_path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在下面設定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zh-TW" altLang="en-US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 Priority.3 default firmware (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前兩個都沒設定會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load firmware header)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################################################################################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#firmware_path = /home/xxx/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xxxx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/image/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firmware_path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= /home/</a:t>
                      </a:r>
                      <a:r>
                        <a:rPr lang="en-US" altLang="zh-TW" sz="600" b="0" dirty="0" err="1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ssv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/work/</a:t>
                      </a:r>
                      <a:r>
                        <a:rPr lang="en-US" altLang="zh-TW" sz="600" b="0" dirty="0" err="1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svn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/host/FMAC/branch/L.FWB.23Q1.0000.00/image/</a:t>
                      </a:r>
                    </a:p>
                    <a:p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################################################################################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 Firmware name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若有設定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firmware path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的話才有用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內部預設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firmware name</a:t>
                      </a:r>
                      <a:r>
                        <a:rPr lang="zh-TW" altLang="en-US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使用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"ssv6x5x-sw.bin"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################################################################################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#firmware_name = ssv6x5x-sw.bin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firmware_name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= ssv6x5x-sw_ble.bin</a:t>
                      </a:r>
                    </a:p>
                    <a:p>
                      <a:endParaRPr lang="zh-TW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DE181BB-52D5-B00C-8FFA-16CFA3AA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614560"/>
              </p:ext>
            </p:extLst>
          </p:nvPr>
        </p:nvGraphicFramePr>
        <p:xfrm>
          <a:off x="1043608" y="1625352"/>
          <a:ext cx="2952328" cy="1371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4616">
                <a:tc>
                  <a:txBody>
                    <a:bodyPr/>
                    <a:lstStyle/>
                    <a:p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 NIMBLE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使用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((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注意与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的使用为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选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1))</a:t>
                      </a:r>
                      <a:endParaRPr lang="zh-TW" altLang="en-US" sz="7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 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使用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ssv6x5x-sw_nimble.bin</a:t>
                      </a:r>
                      <a:endParaRPr lang="en-US" altLang="zh-TW" sz="7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#ccflags-y += -DCONFIG_NIMBLE</a:t>
                      </a:r>
                      <a:endParaRPr lang="en-US" altLang="zh-TW" sz="7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7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 BLE HCI usage (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注意与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NIMBLE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的使用为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选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1)</a:t>
                      </a:r>
                      <a:endParaRPr lang="zh-TW" altLang="en-US" sz="7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 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使用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ssv6x5x-sw_ble.bin</a:t>
                      </a:r>
                      <a:endParaRPr lang="en-US" altLang="zh-TW" sz="7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7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CONFIG_BLE</a:t>
                      </a:r>
                      <a:r>
                        <a:rPr lang="en-US" altLang="zh-TW" sz="7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?= y</a:t>
                      </a:r>
                    </a:p>
                    <a:p>
                      <a:r>
                        <a:rPr lang="en-US" altLang="zh-TW" sz="7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ccflags</a:t>
                      </a:r>
                      <a:r>
                        <a:rPr lang="en-US" altLang="zh-TW" sz="7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altLang="zh-TW" sz="7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$(</a:t>
                      </a:r>
                      <a:r>
                        <a:rPr lang="en-US" altLang="zh-TW" sz="7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CONFIG_BLE</a:t>
                      </a:r>
                      <a:r>
                        <a:rPr lang="en-US" altLang="zh-TW" sz="7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altLang="zh-TW" sz="7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+= -DCONFIG_BLE</a:t>
                      </a:r>
                    </a:p>
                    <a:p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## BLE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使用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application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收發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data (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需同時打開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CONFIG_BLE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與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CONFIG_BLE_HCI_OVER_HWIF</a:t>
                      </a:r>
                      <a:r>
                        <a:rPr lang="zh-TW" altLang="en-US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方能使用</a:t>
                      </a:r>
                      <a:r>
                        <a:rPr lang="en-US" altLang="zh-TW" sz="7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zh-TW" altLang="en-US" sz="7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7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CONFIG_BLE_USE_LL_ONLY</a:t>
                      </a:r>
                      <a:r>
                        <a:rPr lang="en-US" altLang="zh-TW" sz="7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?= y</a:t>
                      </a:r>
                    </a:p>
                    <a:p>
                      <a:r>
                        <a:rPr lang="en-US" altLang="zh-TW" sz="7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ccflags</a:t>
                      </a:r>
                      <a:r>
                        <a:rPr lang="en-US" altLang="zh-TW" sz="7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en-US" altLang="zh-TW" sz="7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$(</a:t>
                      </a:r>
                      <a:r>
                        <a:rPr lang="en-US" altLang="zh-TW" sz="7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CONFIG_BLE_USE_LL_ONLY</a:t>
                      </a:r>
                      <a:r>
                        <a:rPr lang="en-US" altLang="zh-TW" sz="7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altLang="zh-TW" sz="7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+= -DBLE_USE_LL_ONLY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" name="群組 5">
            <a:extLst>
              <a:ext uri="{FF2B5EF4-FFF2-40B4-BE49-F238E27FC236}">
                <a16:creationId xmlns:a16="http://schemas.microsoft.com/office/drawing/2014/main" id="{E3080876-1373-1350-2CDF-4A31EB6F5E83}"/>
              </a:ext>
            </a:extLst>
          </p:cNvPr>
          <p:cNvGrpSpPr/>
          <p:nvPr/>
        </p:nvGrpSpPr>
        <p:grpSpPr>
          <a:xfrm>
            <a:off x="827584" y="718160"/>
            <a:ext cx="2977708" cy="477344"/>
            <a:chOff x="719572" y="5265204"/>
            <a:chExt cx="2977708" cy="477344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C418F5D-F5D6-43EB-689E-DC3B3CC9B9D6}"/>
                </a:ext>
              </a:extLst>
            </p:cNvPr>
            <p:cNvSpPr txBox="1"/>
            <p:nvPr/>
          </p:nvSpPr>
          <p:spPr>
            <a:xfrm>
              <a:off x="827584" y="5373216"/>
              <a:ext cx="2869696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在</a:t>
              </a:r>
              <a:r>
                <a:rPr lang="en-US" altLang="zh-TW" dirty="0">
                  <a:latin typeface="Calibri" panose="020F0502020204030204" pitchFamily="34" charset="0"/>
                  <a:cs typeface="Calibri" panose="020F0502020204030204" pitchFamily="34" charset="0"/>
                </a:rPr>
                <a:t>&lt;</a:t>
              </a:r>
              <a:r>
                <a:rPr lang="en-US" altLang="zh-TW" dirty="0" err="1">
                  <a:latin typeface="Calibri" panose="020F0502020204030204" pitchFamily="34" charset="0"/>
                  <a:cs typeface="Calibri" panose="020F0502020204030204" pitchFamily="34" charset="0"/>
                </a:rPr>
                <a:t>ssvdriver</a:t>
              </a:r>
              <a:r>
                <a:rPr lang="en-US" altLang="zh-TW" dirty="0">
                  <a:latin typeface="Calibri" panose="020F0502020204030204" pitchFamily="34" charset="0"/>
                  <a:cs typeface="Calibri" panose="020F0502020204030204" pitchFamily="34" charset="0"/>
                </a:rPr>
                <a:t> folder&gt;/</a:t>
              </a:r>
              <a:r>
                <a:rPr lang="zh-TW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目錄下</a:t>
              </a:r>
            </a:p>
          </p:txBody>
        </p:sp>
        <p:sp>
          <p:nvSpPr>
            <p:cNvPr id="8" name="七角星形 6">
              <a:extLst>
                <a:ext uri="{FF2B5EF4-FFF2-40B4-BE49-F238E27FC236}">
                  <a16:creationId xmlns:a16="http://schemas.microsoft.com/office/drawing/2014/main" id="{CEBA00DF-7B17-349A-C4AE-5D96972C68A9}"/>
                </a:ext>
              </a:extLst>
            </p:cNvPr>
            <p:cNvSpPr/>
            <p:nvPr/>
          </p:nvSpPr>
          <p:spPr>
            <a:xfrm>
              <a:off x="719572" y="5265204"/>
              <a:ext cx="216024" cy="216024"/>
            </a:xfrm>
            <a:prstGeom prst="star7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sz="1200" dirty="0"/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0D811460-428A-59ED-0179-9DCBECEF5AEB}"/>
              </a:ext>
            </a:extLst>
          </p:cNvPr>
          <p:cNvSpPr/>
          <p:nvPr/>
        </p:nvSpPr>
        <p:spPr>
          <a:xfrm>
            <a:off x="1087692" y="2492896"/>
            <a:ext cx="2808312" cy="492764"/>
          </a:xfrm>
          <a:prstGeom prst="rect">
            <a:avLst/>
          </a:prstGeom>
          <a:noFill/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7038FA-C40E-9130-1400-C2F79A399384}"/>
              </a:ext>
            </a:extLst>
          </p:cNvPr>
          <p:cNvSpPr/>
          <p:nvPr/>
        </p:nvSpPr>
        <p:spPr>
          <a:xfrm>
            <a:off x="1115616" y="4774529"/>
            <a:ext cx="3240360" cy="144016"/>
          </a:xfrm>
          <a:prstGeom prst="rect">
            <a:avLst/>
          </a:prstGeom>
          <a:noFill/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1A24AC-DA91-9607-D523-87BE1467FD93}"/>
              </a:ext>
            </a:extLst>
          </p:cNvPr>
          <p:cNvSpPr/>
          <p:nvPr/>
        </p:nvSpPr>
        <p:spPr>
          <a:xfrm>
            <a:off x="1115616" y="5589240"/>
            <a:ext cx="1440160" cy="144016"/>
          </a:xfrm>
          <a:prstGeom prst="rect">
            <a:avLst/>
          </a:prstGeom>
          <a:noFill/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C78769A-5F6A-2926-044E-D1C24DA63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701899"/>
              </p:ext>
            </p:extLst>
          </p:nvPr>
        </p:nvGraphicFramePr>
        <p:xfrm>
          <a:off x="1043608" y="6239976"/>
          <a:ext cx="864096" cy="21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268">
                <a:tc>
                  <a:txBody>
                    <a:bodyPr/>
                    <a:lstStyle/>
                    <a:p>
                      <a:r>
                        <a:rPr lang="en-US" altLang="zh-TW" sz="800" dirty="0">
                          <a:latin typeface="Consolas" panose="020B0609020204030204" pitchFamily="49" charset="0"/>
                        </a:rPr>
                        <a:t># ./load.sh</a:t>
                      </a:r>
                      <a:endParaRPr lang="en-US" altLang="zh-TW" sz="800" dirty="0">
                        <a:solidFill>
                          <a:srgbClr val="141414"/>
                        </a:solidFill>
                        <a:highlight>
                          <a:srgbClr val="8E8E8E"/>
                        </a:highlight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D288A98-EFBC-18DD-E1D5-6BF4BC99B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4640"/>
              </p:ext>
            </p:extLst>
          </p:nvPr>
        </p:nvGraphicFramePr>
        <p:xfrm>
          <a:off x="1043608" y="3349785"/>
          <a:ext cx="864096" cy="21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2268">
                <a:tc>
                  <a:txBody>
                    <a:bodyPr/>
                    <a:lstStyle/>
                    <a:p>
                      <a:r>
                        <a:rPr lang="en-US" altLang="zh-TW" sz="800" dirty="0">
                          <a:latin typeface="Consolas" panose="020B0609020204030204" pitchFamily="49" charset="0"/>
                        </a:rPr>
                        <a:t># make</a:t>
                      </a:r>
                      <a:endParaRPr lang="en-US" altLang="zh-TW" sz="800" dirty="0">
                        <a:solidFill>
                          <a:srgbClr val="141414"/>
                        </a:solidFill>
                        <a:highlight>
                          <a:srgbClr val="8E8E8E"/>
                        </a:highlight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510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0F9929-7186-4504-496D-C6932CB2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BLE</a:t>
            </a:r>
            <a:r>
              <a:rPr lang="zh-TW" altLang="en-US" dirty="0"/>
              <a:t> </a:t>
            </a:r>
            <a:r>
              <a:rPr lang="en-US" altLang="zh-TW" dirty="0"/>
              <a:t>app</a:t>
            </a:r>
            <a:r>
              <a:rPr lang="zh-TW" altLang="en-US" dirty="0"/>
              <a:t>收發</a:t>
            </a:r>
            <a:r>
              <a:rPr lang="en-US" altLang="zh-TW" dirty="0"/>
              <a:t>BLE LL</a:t>
            </a:r>
            <a:r>
              <a:rPr lang="zh-TW" altLang="en-US" dirty="0"/>
              <a:t>的</a:t>
            </a:r>
            <a:r>
              <a:rPr lang="en-US" altLang="zh-TW" dirty="0"/>
              <a:t>data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37E814-08E5-7958-422C-71E14565D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編輯</a:t>
            </a:r>
            <a:r>
              <a:rPr lang="en-US" altLang="zh-TW" sz="1600" dirty="0" err="1"/>
              <a:t>Makefile</a:t>
            </a:r>
            <a:r>
              <a:rPr lang="en-US" altLang="zh-TW" sz="1600" dirty="0"/>
              <a:t>,</a:t>
            </a:r>
            <a:r>
              <a:rPr lang="zh-TW" altLang="en-US" sz="1600" dirty="0"/>
              <a:t> 打開</a:t>
            </a:r>
            <a:r>
              <a:rPr lang="en-US" altLang="zh-TW" sz="1600" dirty="0"/>
              <a:t>compiler flag, (</a:t>
            </a:r>
            <a:r>
              <a:rPr lang="zh-TW" altLang="en-US" sz="1600" dirty="0"/>
              <a:t>新增</a:t>
            </a:r>
            <a:r>
              <a:rPr lang="en-US" altLang="zh-TW" sz="1600" b="1" dirty="0">
                <a:solidFill>
                  <a:srgbClr val="9900CC"/>
                </a:solidFill>
              </a:rPr>
              <a:t>BLE_USE_LL_ONLY</a:t>
            </a:r>
            <a:r>
              <a:rPr lang="en-US" altLang="zh-TW" sz="1600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編譯</a:t>
            </a:r>
            <a:r>
              <a:rPr lang="en-US" altLang="zh-TW" sz="1600" dirty="0" err="1"/>
              <a:t>ble_app</a:t>
            </a: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1600" dirty="0"/>
              <a:t>執行</a:t>
            </a:r>
            <a:r>
              <a:rPr lang="en-US" altLang="zh-TW" sz="1600" dirty="0" err="1"/>
              <a:t>ble_app</a:t>
            </a:r>
            <a:r>
              <a:rPr lang="en-US" altLang="zh-TW" sz="1600" dirty="0"/>
              <a:t>,</a:t>
            </a:r>
            <a:r>
              <a:rPr lang="zh-TW" altLang="en-US" sz="1600" dirty="0"/>
              <a:t> 並</a:t>
            </a:r>
            <a:r>
              <a:rPr lang="en-US" altLang="zh-TW" sz="1600" dirty="0"/>
              <a:t>CLI command “</a:t>
            </a:r>
            <a:r>
              <a:rPr lang="en-US" altLang="zh-TW" sz="1600" b="1" dirty="0" err="1">
                <a:solidFill>
                  <a:srgbClr val="002060"/>
                </a:solidFill>
              </a:rPr>
              <a:t>init</a:t>
            </a:r>
            <a:r>
              <a:rPr lang="en-US" altLang="zh-TW" sz="1600" b="1" dirty="0">
                <a:solidFill>
                  <a:srgbClr val="002060"/>
                </a:solidFill>
              </a:rPr>
              <a:t>=1</a:t>
            </a:r>
            <a:r>
              <a:rPr lang="en-US" altLang="zh-TW" sz="1600" dirty="0"/>
              <a:t>”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1600" dirty="0"/>
          </a:p>
          <a:p>
            <a:pPr marL="514350" indent="-514350">
              <a:buFont typeface="+mj-lt"/>
              <a:buAutoNum type="arabicPeriod"/>
            </a:pPr>
            <a:endParaRPr lang="zh-TW" altLang="en-US" sz="1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3A73391-763C-4D01-D561-305362E36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02893"/>
              </p:ext>
            </p:extLst>
          </p:nvPr>
        </p:nvGraphicFramePr>
        <p:xfrm>
          <a:off x="1043608" y="1664216"/>
          <a:ext cx="3528392" cy="61265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656">
                <a:tc>
                  <a:txBody>
                    <a:bodyPr/>
                    <a:lstStyle/>
                    <a:p>
                      <a:r>
                        <a:rPr lang="en-US" altLang="zh-TW" sz="8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CC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altLang="zh-TW" sz="800" b="0" dirty="0" err="1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gcc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CFLAGS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= -c -Wall -</a:t>
                      </a:r>
                      <a:r>
                        <a:rPr lang="en-US" altLang="zh-TW" sz="800" b="0" dirty="0" err="1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fshort-enums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CFLAGS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+= -DBLE_USE_LL_ONLY</a:t>
                      </a:r>
                    </a:p>
                    <a:p>
                      <a:r>
                        <a:rPr lang="en-US" altLang="zh-TW" sz="8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LDFLAGS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群組 4">
            <a:extLst>
              <a:ext uri="{FF2B5EF4-FFF2-40B4-BE49-F238E27FC236}">
                <a16:creationId xmlns:a16="http://schemas.microsoft.com/office/drawing/2014/main" id="{ED1B1543-1350-C75E-4565-929F6DB46CA2}"/>
              </a:ext>
            </a:extLst>
          </p:cNvPr>
          <p:cNvGrpSpPr/>
          <p:nvPr/>
        </p:nvGrpSpPr>
        <p:grpSpPr>
          <a:xfrm>
            <a:off x="827584" y="718160"/>
            <a:ext cx="4758003" cy="477344"/>
            <a:chOff x="719572" y="5265204"/>
            <a:chExt cx="4758003" cy="477344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406C1EC-FC12-623A-7BDB-AE8BC2C84585}"/>
                </a:ext>
              </a:extLst>
            </p:cNvPr>
            <p:cNvSpPr txBox="1"/>
            <p:nvPr/>
          </p:nvSpPr>
          <p:spPr>
            <a:xfrm>
              <a:off x="827584" y="5373216"/>
              <a:ext cx="4649991" cy="36933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zh-TW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在</a:t>
              </a:r>
              <a:r>
                <a:rPr lang="en-US" altLang="zh-TW" dirty="0">
                  <a:latin typeface="Calibri" panose="020F0502020204030204" pitchFamily="34" charset="0"/>
                  <a:cs typeface="Calibri" panose="020F0502020204030204" pitchFamily="34" charset="0"/>
                </a:rPr>
                <a:t>&lt;</a:t>
              </a:r>
              <a:r>
                <a:rPr lang="en-US" altLang="zh-TW" dirty="0" err="1">
                  <a:latin typeface="Calibri" panose="020F0502020204030204" pitchFamily="34" charset="0"/>
                  <a:cs typeface="Calibri" panose="020F0502020204030204" pitchFamily="34" charset="0"/>
                </a:rPr>
                <a:t>ssvdriver</a:t>
              </a:r>
              <a:r>
                <a:rPr lang="en-US" altLang="zh-TW" dirty="0">
                  <a:latin typeface="Calibri" panose="020F0502020204030204" pitchFamily="34" charset="0"/>
                  <a:cs typeface="Calibri" panose="020F0502020204030204" pitchFamily="34" charset="0"/>
                </a:rPr>
                <a:t> folder&gt;/tools/</a:t>
              </a:r>
              <a:r>
                <a:rPr lang="en-US" altLang="zh-TW" dirty="0" err="1">
                  <a:latin typeface="Calibri" panose="020F0502020204030204" pitchFamily="34" charset="0"/>
                  <a:cs typeface="Calibri" panose="020F0502020204030204" pitchFamily="34" charset="0"/>
                </a:rPr>
                <a:t>ble</a:t>
              </a:r>
              <a:r>
                <a:rPr lang="en-US" altLang="zh-TW" dirty="0">
                  <a:latin typeface="Calibri" panose="020F0502020204030204" pitchFamily="34" charset="0"/>
                  <a:cs typeface="Calibri" panose="020F0502020204030204" pitchFamily="34" charset="0"/>
                </a:rPr>
                <a:t>/</a:t>
              </a:r>
              <a:r>
                <a:rPr lang="en-US" altLang="zh-TW" dirty="0" err="1">
                  <a:latin typeface="Calibri" panose="020F0502020204030204" pitchFamily="34" charset="0"/>
                  <a:cs typeface="Calibri" panose="020F0502020204030204" pitchFamily="34" charset="0"/>
                </a:rPr>
                <a:t>ble_app</a:t>
              </a:r>
              <a:r>
                <a:rPr lang="en-US" altLang="zh-TW" dirty="0">
                  <a:latin typeface="Calibri" panose="020F0502020204030204" pitchFamily="34" charset="0"/>
                  <a:cs typeface="Calibri" panose="020F0502020204030204" pitchFamily="34" charset="0"/>
                </a:rPr>
                <a:t>/</a:t>
              </a:r>
              <a:r>
                <a:rPr lang="zh-TW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目錄下</a:t>
              </a:r>
            </a:p>
          </p:txBody>
        </p:sp>
        <p:sp>
          <p:nvSpPr>
            <p:cNvPr id="7" name="七角星形 6">
              <a:extLst>
                <a:ext uri="{FF2B5EF4-FFF2-40B4-BE49-F238E27FC236}">
                  <a16:creationId xmlns:a16="http://schemas.microsoft.com/office/drawing/2014/main" id="{76C29ACD-E29C-CBF7-26BD-B5E786A49E71}"/>
                </a:ext>
              </a:extLst>
            </p:cNvPr>
            <p:cNvSpPr/>
            <p:nvPr/>
          </p:nvSpPr>
          <p:spPr>
            <a:xfrm>
              <a:off x="719572" y="5265204"/>
              <a:ext cx="216024" cy="216024"/>
            </a:xfrm>
            <a:prstGeom prst="star7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sz="1200" dirty="0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E75D63B3-BA2D-7E27-8062-41C6069BF544}"/>
              </a:ext>
            </a:extLst>
          </p:cNvPr>
          <p:cNvSpPr/>
          <p:nvPr/>
        </p:nvSpPr>
        <p:spPr>
          <a:xfrm>
            <a:off x="1115616" y="1970544"/>
            <a:ext cx="1584176" cy="90304"/>
          </a:xfrm>
          <a:prstGeom prst="rect">
            <a:avLst/>
          </a:prstGeom>
          <a:noFill/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2FA3388-67B8-08D8-4E81-8B64CAF40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28793"/>
              </p:ext>
            </p:extLst>
          </p:nvPr>
        </p:nvGraphicFramePr>
        <p:xfrm>
          <a:off x="1043608" y="3068960"/>
          <a:ext cx="3528392" cy="1676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656">
                <a:tc>
                  <a:txBody>
                    <a:bodyPr/>
                    <a:lstStyle/>
                    <a:p>
                      <a:r>
                        <a:rPr lang="en-US" altLang="zh-TW" sz="800" dirty="0">
                          <a:latin typeface="Consolas" panose="020B0609020204030204" pitchFamily="49" charset="0"/>
                        </a:rPr>
                        <a:t># ./</a:t>
                      </a:r>
                      <a:r>
                        <a:rPr lang="en-US" altLang="zh-TW" sz="800" dirty="0" err="1">
                          <a:latin typeface="Consolas" panose="020B0609020204030204" pitchFamily="49" charset="0"/>
                        </a:rPr>
                        <a:t>ble_app</a:t>
                      </a:r>
                      <a:endParaRPr lang="en-US" altLang="zh-TW" sz="800" dirty="0">
                        <a:solidFill>
                          <a:srgbClr val="141414"/>
                        </a:solidFill>
                        <a:highlight>
                          <a:srgbClr val="8E8E8E"/>
                        </a:highlight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8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init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8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bleinit</a:t>
                      </a:r>
                      <a:r>
                        <a:rPr lang="en-US" altLang="zh-TW" sz="8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8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HCI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Reset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event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mask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event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mask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8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8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8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8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8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8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8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8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8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zh-TW" altLang="en-US" sz="800" dirty="0">
                        <a:solidFill>
                          <a:srgbClr val="141414"/>
                        </a:solidFill>
                        <a:highlight>
                          <a:srgbClr val="8E8E8E"/>
                        </a:highlight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7D85975-1A98-C4E9-7EF5-1ECDAE3873E3}"/>
              </a:ext>
            </a:extLst>
          </p:cNvPr>
          <p:cNvSpPr/>
          <p:nvPr/>
        </p:nvSpPr>
        <p:spPr>
          <a:xfrm>
            <a:off x="1403648" y="3383848"/>
            <a:ext cx="360040" cy="117160"/>
          </a:xfrm>
          <a:prstGeom prst="rect">
            <a:avLst/>
          </a:prstGeom>
          <a:noFill/>
          <a:ln w="31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76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03EDAA-DD8B-7D28-6675-06A17321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</a:t>
            </a:r>
            <a:r>
              <a:rPr lang="zh-TW" altLang="en-US" dirty="0"/>
              <a:t>指令範例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F9F989-5C1E-8FCB-CF6F-AFD4D608E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TW" sz="1800" dirty="0" err="1"/>
              <a:t>init</a:t>
            </a: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r>
              <a:rPr lang="en-US" altLang="zh-TW" sz="1800" dirty="0"/>
              <a:t>advert</a:t>
            </a:r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r>
              <a:rPr lang="en-US" altLang="zh-TW" sz="1800" dirty="0" err="1"/>
              <a:t>scanparam</a:t>
            </a: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endParaRPr lang="en-US" altLang="zh-TW" sz="1800" dirty="0"/>
          </a:p>
          <a:p>
            <a:pPr marL="514350" indent="-514350">
              <a:buAutoNum type="arabicPeriod"/>
            </a:pPr>
            <a:r>
              <a:rPr lang="en-US" altLang="zh-TW" sz="1800" dirty="0"/>
              <a:t>scan</a:t>
            </a:r>
            <a:endParaRPr lang="zh-TW" altLang="en-US" sz="18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82DD9C1-8085-8EDA-8770-2174DA82D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743881"/>
              </p:ext>
            </p:extLst>
          </p:nvPr>
        </p:nvGraphicFramePr>
        <p:xfrm>
          <a:off x="971600" y="1556792"/>
          <a:ext cx="1728192" cy="10081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init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bleinit</a:t>
                      </a:r>
                      <a:r>
                        <a:rPr lang="en-US" altLang="zh-TW" sz="6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HCI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Reset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event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mask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event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mask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zh-TW" altLang="en-US" sz="600" dirty="0">
                        <a:solidFill>
                          <a:srgbClr val="141414"/>
                        </a:solidFill>
                        <a:highlight>
                          <a:srgbClr val="8E8E8E"/>
                        </a:highlight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A30716-01E6-EB03-3523-7E1ADAFC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959948"/>
              </p:ext>
            </p:extLst>
          </p:nvPr>
        </p:nvGraphicFramePr>
        <p:xfrm>
          <a:off x="971600" y="2907274"/>
          <a:ext cx="1728192" cy="1188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,ssv_test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bleADV</a:t>
                      </a:r>
                      <a:r>
                        <a:rPr lang="en-US" altLang="zh-TW" sz="6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,ssv_test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data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scan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response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data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parameters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enable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19CF9AD7-3203-C87A-2484-7E79C7DC4D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706" y="2907274"/>
            <a:ext cx="1760680" cy="118872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6DFC108-E286-379C-2557-7BA2972B5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99045"/>
              </p:ext>
            </p:extLst>
          </p:nvPr>
        </p:nvGraphicFramePr>
        <p:xfrm>
          <a:off x="971600" y="4524889"/>
          <a:ext cx="1728192" cy="70431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4311">
                <a:tc>
                  <a:txBody>
                    <a:bodyPr/>
                    <a:lstStyle/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scanparams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,0,0,320,48,1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blesetscanparams</a:t>
                      </a:r>
                      <a:r>
                        <a:rPr lang="en-US" altLang="zh-TW" sz="6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,0,0,320,48,1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scan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parameter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FEA6C73-4175-2712-C2F6-286A944AA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8472"/>
              </p:ext>
            </p:extLst>
          </p:nvPr>
        </p:nvGraphicFramePr>
        <p:xfrm>
          <a:off x="971600" y="5517232"/>
          <a:ext cx="1800200" cy="1280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4311">
                <a:tc>
                  <a:txBody>
                    <a:bodyPr/>
                    <a:lstStyle/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scan=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blestartscan</a:t>
                      </a:r>
                      <a:r>
                        <a:rPr lang="en-US" altLang="zh-TW" sz="6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scan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enable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6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Command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Complete.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43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25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34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32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15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30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RX: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Advertising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Report.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altLang="zh-TW" sz="600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altLang="zh-TW" sz="6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30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64164C3C-100A-42D0-4D9B-69E9F1FC0D7E}"/>
              </a:ext>
            </a:extLst>
          </p:cNvPr>
          <p:cNvSpPr txBox="1"/>
          <p:nvPr/>
        </p:nvSpPr>
        <p:spPr>
          <a:xfrm>
            <a:off x="3203848" y="2575937"/>
            <a:ext cx="30139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(</a:t>
            </a:r>
            <a:r>
              <a:rPr lang="zh-TW" altLang="en-US" sz="1200" dirty="0"/>
              <a:t>手機應用程式</a:t>
            </a:r>
            <a:r>
              <a:rPr lang="en-US" altLang="zh-TW" sz="1200" dirty="0" err="1"/>
              <a:t>nRF</a:t>
            </a:r>
            <a:r>
              <a:rPr lang="en-US" altLang="zh-TW" sz="1200" dirty="0"/>
              <a:t> Connect</a:t>
            </a:r>
            <a:r>
              <a:rPr lang="zh-TW" altLang="en-US" sz="1200" dirty="0"/>
              <a:t>的</a:t>
            </a:r>
            <a:r>
              <a:rPr lang="en-US" altLang="zh-TW" sz="1200" dirty="0"/>
              <a:t>scan</a:t>
            </a:r>
            <a:r>
              <a:rPr lang="zh-TW" altLang="en-US" sz="1200" dirty="0"/>
              <a:t>結果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29542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實作項目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altLang="zh-TW" sz="2400" dirty="0"/>
              <a:t>BLE APP TX:</a:t>
            </a:r>
          </a:p>
          <a:p>
            <a:pPr marL="914400" lvl="1" indent="-514350">
              <a:buAutoNum type="arabicPeriod"/>
            </a:pPr>
            <a:r>
              <a:rPr lang="en-US" altLang="zh-TW" sz="1800" dirty="0" err="1"/>
              <a:t>init</a:t>
            </a:r>
            <a:r>
              <a:rPr lang="en-US" altLang="zh-TW" sz="1800" dirty="0"/>
              <a:t>: </a:t>
            </a:r>
          </a:p>
          <a:p>
            <a:pPr marL="1314450" lvl="2" indent="-514350">
              <a:buFont typeface="+mj-lt"/>
              <a:buAutoNum type="arabicParenR"/>
            </a:pPr>
            <a:r>
              <a:rPr lang="zh-TW" altLang="en-US" sz="1400" dirty="0"/>
              <a:t>通知</a:t>
            </a:r>
            <a:r>
              <a:rPr lang="en-US" altLang="zh-TW" sz="1400" dirty="0"/>
              <a:t>BLE DRV</a:t>
            </a:r>
            <a:r>
              <a:rPr lang="zh-TW" altLang="en-US" sz="1400" dirty="0"/>
              <a:t>做</a:t>
            </a:r>
            <a:r>
              <a:rPr lang="en-US" altLang="zh-TW" sz="1400" dirty="0" err="1"/>
              <a:t>init</a:t>
            </a:r>
            <a:endParaRPr lang="en-US" altLang="zh-TW" sz="1400" dirty="0"/>
          </a:p>
          <a:p>
            <a:pPr marL="1314450" lvl="2" indent="-514350">
              <a:buAutoNum type="arabicParenR"/>
            </a:pPr>
            <a:r>
              <a:rPr lang="zh-TW" altLang="en-US" sz="1400" dirty="0"/>
              <a:t>發</a:t>
            </a:r>
            <a:r>
              <a:rPr lang="en-US" altLang="zh-TW" sz="1400" dirty="0"/>
              <a:t>”HCI Reset”, “set event mask”, “set le event mask”</a:t>
            </a:r>
            <a:r>
              <a:rPr lang="zh-TW" altLang="en-US" sz="1400" dirty="0"/>
              <a:t>命令</a:t>
            </a:r>
            <a:endParaRPr lang="en-US" altLang="zh-TW" sz="1400" dirty="0"/>
          </a:p>
          <a:p>
            <a:pPr marL="914400" lvl="1" indent="-514350">
              <a:buAutoNum type="arabicPeriod"/>
            </a:pPr>
            <a:r>
              <a:rPr lang="en-US" altLang="zh-TW" sz="1800" dirty="0"/>
              <a:t>advert:</a:t>
            </a:r>
          </a:p>
          <a:p>
            <a:pPr marL="1314450" lvl="2" indent="-514350">
              <a:buFont typeface="+mj-lt"/>
              <a:buAutoNum type="arabicParenR"/>
            </a:pPr>
            <a:r>
              <a:rPr lang="zh-TW" altLang="en-US" sz="1400" dirty="0"/>
              <a:t>發</a:t>
            </a:r>
            <a:r>
              <a:rPr lang="en-US" altLang="zh-TW" sz="1400" dirty="0"/>
              <a:t>”set advertising parameters”, “set advertising data”, “set scan response data”, and “set advertising enable”</a:t>
            </a:r>
            <a:r>
              <a:rPr lang="zh-TW" altLang="en-US" sz="1400" dirty="0"/>
              <a:t>命令</a:t>
            </a:r>
            <a:endParaRPr lang="en-US" altLang="zh-TW" sz="1400" dirty="0"/>
          </a:p>
          <a:p>
            <a:pPr marL="914400" lvl="1" indent="-514350">
              <a:buAutoNum type="arabicPeriod"/>
            </a:pPr>
            <a:r>
              <a:rPr lang="en-US" altLang="zh-TW" sz="1800" dirty="0" err="1"/>
              <a:t>scanparams</a:t>
            </a:r>
            <a:endParaRPr lang="en-US" altLang="zh-TW" sz="1800" dirty="0"/>
          </a:p>
          <a:p>
            <a:pPr marL="1314450" lvl="2" indent="-514350">
              <a:buFont typeface="+mj-lt"/>
              <a:buAutoNum type="arabicParenR"/>
            </a:pPr>
            <a:r>
              <a:rPr lang="zh-TW" altLang="en-US" sz="1400" dirty="0"/>
              <a:t>發</a:t>
            </a:r>
            <a:r>
              <a:rPr lang="en-US" altLang="zh-TW" sz="1400" dirty="0"/>
              <a:t>”set scan parameters”</a:t>
            </a:r>
            <a:r>
              <a:rPr lang="zh-TW" altLang="en-US" sz="1400" dirty="0"/>
              <a:t>命令</a:t>
            </a:r>
            <a:endParaRPr lang="en-US" altLang="zh-TW" sz="1400" dirty="0"/>
          </a:p>
          <a:p>
            <a:pPr marL="914400" lvl="1" indent="-514350">
              <a:buAutoNum type="arabicPeriod"/>
            </a:pPr>
            <a:r>
              <a:rPr lang="en-US" altLang="zh-TW" sz="1800" dirty="0"/>
              <a:t>scan</a:t>
            </a:r>
          </a:p>
          <a:p>
            <a:pPr marL="1314450" lvl="2" indent="-514350">
              <a:buFont typeface="+mj-lt"/>
              <a:buAutoNum type="arabicParenR"/>
            </a:pPr>
            <a:r>
              <a:rPr lang="zh-TW" altLang="en-US" sz="1400" dirty="0"/>
              <a:t>發</a:t>
            </a:r>
            <a:r>
              <a:rPr lang="en-US" altLang="zh-TW" sz="1400" dirty="0"/>
              <a:t>”scan enable”</a:t>
            </a:r>
            <a:r>
              <a:rPr lang="zh-TW" altLang="en-US" sz="1400" dirty="0"/>
              <a:t>命令</a:t>
            </a:r>
            <a:endParaRPr lang="en-US" altLang="zh-TW" sz="1400" dirty="0"/>
          </a:p>
          <a:p>
            <a:pPr marL="514350" indent="-514350">
              <a:buAutoNum type="arabicPeriod"/>
            </a:pPr>
            <a:r>
              <a:rPr lang="en-US" altLang="zh-TW" sz="2400" dirty="0"/>
              <a:t>BLE APP RX</a:t>
            </a:r>
          </a:p>
          <a:p>
            <a:pPr marL="914400" lvl="1" indent="-514350">
              <a:buAutoNum type="arabicPeriod"/>
            </a:pPr>
            <a:r>
              <a:rPr lang="en-US" altLang="zh-TW" sz="1800" dirty="0"/>
              <a:t>RX packet handler callback</a:t>
            </a:r>
            <a:br>
              <a:rPr lang="en-US" altLang="zh-TW" sz="1800" dirty="0"/>
            </a:br>
            <a:r>
              <a:rPr lang="en-US" altLang="zh-TW" sz="1800" dirty="0"/>
              <a:t>=&gt;</a:t>
            </a:r>
            <a:r>
              <a:rPr lang="zh-TW" altLang="en-US" sz="1800" dirty="0"/>
              <a:t> 提供</a:t>
            </a:r>
            <a:r>
              <a:rPr lang="en-US" altLang="zh-TW" sz="1800" dirty="0"/>
              <a:t>callback</a:t>
            </a:r>
            <a:r>
              <a:rPr lang="zh-TW" altLang="en-US" sz="1800" dirty="0"/>
              <a:t>註冊</a:t>
            </a:r>
            <a:r>
              <a:rPr lang="en-US" altLang="zh-TW" sz="1800" dirty="0"/>
              <a:t>, </a:t>
            </a:r>
            <a:r>
              <a:rPr lang="zh-TW" altLang="en-US" sz="1800" dirty="0"/>
              <a:t>當有</a:t>
            </a:r>
            <a:r>
              <a:rPr lang="en-US" altLang="zh-TW" sz="1800" dirty="0"/>
              <a:t>RX packet</a:t>
            </a:r>
            <a:r>
              <a:rPr lang="zh-TW" altLang="en-US" sz="1800" dirty="0"/>
              <a:t>時呼叫</a:t>
            </a:r>
            <a:r>
              <a:rPr lang="en-US" altLang="zh-TW" sz="1800" dirty="0"/>
              <a:t>callback</a:t>
            </a:r>
            <a:r>
              <a:rPr lang="zh-TW" altLang="en-US" sz="1800" dirty="0"/>
              <a:t>處理</a:t>
            </a:r>
            <a:endParaRPr lang="en-US" altLang="zh-TW" sz="1800" dirty="0"/>
          </a:p>
          <a:p>
            <a:pPr marL="514350" indent="-514350">
              <a:buAutoNum type="arabicPeriod"/>
            </a:pPr>
            <a:r>
              <a:rPr lang="en-US" altLang="zh-TW" sz="2400" dirty="0"/>
              <a:t>BLE</a:t>
            </a:r>
            <a:r>
              <a:rPr lang="zh-TW" altLang="en-US" sz="2400" dirty="0"/>
              <a:t> </a:t>
            </a:r>
            <a:r>
              <a:rPr lang="en-US" altLang="zh-TW" sz="2400" dirty="0"/>
              <a:t>DRV</a:t>
            </a:r>
          </a:p>
          <a:p>
            <a:pPr marL="914400" lvl="1" indent="-514350">
              <a:buAutoNum type="arabicPeriod"/>
            </a:pPr>
            <a:r>
              <a:rPr lang="en-US" altLang="zh-TW" sz="1800" dirty="0" err="1"/>
              <a:t>init</a:t>
            </a:r>
            <a:r>
              <a:rPr lang="en-US" altLang="zh-TW" sz="1800" dirty="0"/>
              <a:t>: </a:t>
            </a:r>
            <a:r>
              <a:rPr lang="zh-TW" altLang="en-US" sz="1800" dirty="0"/>
              <a:t>做</a:t>
            </a:r>
            <a:r>
              <a:rPr lang="en-US" altLang="zh-TW" sz="1800" dirty="0"/>
              <a:t>BLE </a:t>
            </a:r>
            <a:r>
              <a:rPr lang="en-US" altLang="zh-TW" sz="1800" dirty="0" err="1"/>
              <a:t>init</a:t>
            </a:r>
            <a:r>
              <a:rPr lang="en-US" altLang="zh-TW" sz="1800" dirty="0"/>
              <a:t>, </a:t>
            </a:r>
            <a:r>
              <a:rPr lang="zh-TW" altLang="en-US" sz="1800" dirty="0"/>
              <a:t>但不向</a:t>
            </a:r>
            <a:r>
              <a:rPr lang="en-US" altLang="zh-TW" sz="1800" dirty="0" err="1"/>
              <a:t>BlueZ</a:t>
            </a:r>
            <a:r>
              <a:rPr lang="zh-TW" altLang="en-US" sz="1800" dirty="0"/>
              <a:t>註冊</a:t>
            </a:r>
            <a:r>
              <a:rPr lang="en-US" altLang="zh-TW" sz="1800" dirty="0"/>
              <a:t>device</a:t>
            </a:r>
          </a:p>
          <a:p>
            <a:pPr marL="914400" lvl="1" indent="-514350">
              <a:buAutoNum type="arabicPeriod"/>
            </a:pPr>
            <a:r>
              <a:rPr lang="en-US" altLang="zh-TW" sz="1800" dirty="0"/>
              <a:t>TX: </a:t>
            </a:r>
            <a:r>
              <a:rPr lang="zh-TW" altLang="en-US" sz="1800" dirty="0"/>
              <a:t>透過</a:t>
            </a:r>
            <a:r>
              <a:rPr lang="en-US" altLang="zh-TW" sz="1800" dirty="0" err="1"/>
              <a:t>netlink</a:t>
            </a:r>
            <a:r>
              <a:rPr lang="zh-TW" altLang="en-US" sz="1800" dirty="0"/>
              <a:t>打來的</a:t>
            </a:r>
            <a:r>
              <a:rPr lang="en-US" altLang="zh-TW" sz="1800" dirty="0"/>
              <a:t>TX packet</a:t>
            </a:r>
            <a:r>
              <a:rPr lang="zh-TW" altLang="en-US" sz="1800" dirty="0"/>
              <a:t>送往</a:t>
            </a:r>
            <a:r>
              <a:rPr lang="en-US" altLang="zh-TW" sz="1800" dirty="0"/>
              <a:t>firmware</a:t>
            </a:r>
          </a:p>
          <a:p>
            <a:pPr marL="914400" lvl="1" indent="-514350">
              <a:buAutoNum type="arabicPeriod"/>
            </a:pPr>
            <a:r>
              <a:rPr lang="en-US" altLang="zh-TW" sz="1800" dirty="0"/>
              <a:t>RX:</a:t>
            </a:r>
            <a:r>
              <a:rPr lang="zh-TW" altLang="en-US" sz="1800" dirty="0"/>
              <a:t> </a:t>
            </a:r>
            <a:r>
              <a:rPr lang="en-US" altLang="zh-TW" sz="1800" dirty="0"/>
              <a:t>RX packet</a:t>
            </a:r>
            <a:r>
              <a:rPr lang="zh-TW" altLang="en-US" sz="1800" dirty="0"/>
              <a:t>透過</a:t>
            </a:r>
            <a:r>
              <a:rPr lang="en-US" altLang="zh-TW" sz="1800" dirty="0" err="1"/>
              <a:t>netlink</a:t>
            </a:r>
            <a:r>
              <a:rPr lang="zh-TW" altLang="en-US" sz="1800" dirty="0"/>
              <a:t>送往</a:t>
            </a:r>
            <a:r>
              <a:rPr lang="en-US" altLang="zh-TW" sz="1800" dirty="0"/>
              <a:t>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8E9A9-0560-064E-E68D-7B6B5C14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BLE LL</a:t>
            </a:r>
            <a:r>
              <a:rPr lang="zh-TW" altLang="en-US" dirty="0"/>
              <a:t>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BCBD7D0-FE8D-83C3-62E7-D8C4818EC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499866"/>
              </p:ext>
            </p:extLst>
          </p:nvPr>
        </p:nvGraphicFramePr>
        <p:xfrm>
          <a:off x="395536" y="980728"/>
          <a:ext cx="8352928" cy="5303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35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2568">
                <a:tc>
                  <a:txBody>
                    <a:bodyPr/>
                    <a:lstStyle/>
                    <a:p>
                      <a:r>
                        <a:rPr lang="en-US" altLang="zh-TW" sz="6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altLang="zh-TW" sz="6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600" b="0" dirty="0" err="1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ssv_ble_ll_rx_pkt_cb_t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)(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uint32_t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///&lt; BLE LL RX packet callback type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altLang="zh-TW" sz="600" b="0" dirty="0">
                        <a:solidFill>
                          <a:srgbClr val="6A995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/// Ble scan parameters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scan_type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/*!&lt; Scan type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own_addr_type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  /*!&lt; Owner address type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scan_filter_policy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/*!&lt; Scan filter policy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uint16_t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scan_interval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  /*!&lt; Scan interval. This is defined as the time interval from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when the Controller started its last LE scan until it begins the subsequent LE scan.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Range: 0x0004 to 0x4000 Default: 0x0010 (10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ms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Time = N * 0.625 msec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Time Range: 2.5 msec to 10.24 seconds*/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uint16_t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scan_window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/*!&lt; Scan window. The duration of the LE scan.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LE_Scan_Window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shall be less than or equal to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LE_Scan_Interval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Range: 0x0004 to 0x4000 Default: 0x0010 (10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ms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Time = N * 0.625 msec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Time Range: 2.5 msec to 10240 msec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scan_duplicate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/*!&lt; The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Scan_Duplicates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parameter controls whether the Link Layer should filter out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  duplicate advertising reports (BLE_SCAN_DUPLICATE_ENABLE) to the Host, or if the Link Layer should generate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      advertising reports for each packet received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zh-TW" sz="600" b="0" dirty="0" err="1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ssv_ble_ll_scan_params_t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b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/// Advertising parameters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typedef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6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uint16_t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adv_int_min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/*!&lt; Minimum advertising interval for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undirected and low duty cycle directed advertising.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Range: 0x0020 to 0x4000 Default: N = 0x0800 (1.28 second)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Time = N * 0.625 msec Time Range: 20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ms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to 10.24 sec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uint16_t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adv_int_max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/*!&lt; Maximum advertising interval for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undirected and low duty cycle directed advertising.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Range: 0x0020 to 0x4000 Default: N = 0x0800 (1.28 second)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                                                 Time = N * 0.625 msec Time Range: 20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ms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to 10.24 sec Advertising max interval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adv_type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/*!&lt; Advertising type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own_addr_type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/*!&lt; Owner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bluetooth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device address type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peer_addr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zh-TW" sz="6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];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/*!&lt; Peer device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bluetooth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device address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peer_addr_type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/*!&lt; Peer device </a:t>
                      </a:r>
                      <a:r>
                        <a:rPr lang="en-US" altLang="zh-TW" sz="600" b="0" dirty="0" err="1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bluetooth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device address type, only support public address type and random address type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channel_map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      /*!&lt; Advertising channel map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altLang="zh-TW" sz="6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                </a:t>
                      </a:r>
                      <a:r>
                        <a:rPr lang="en-US" altLang="zh-TW" sz="6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adv_filter_policy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en-US" altLang="zh-TW" sz="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  /*!&lt; Advertising filter policy */</a:t>
                      </a:r>
                      <a:endParaRPr lang="en-US" altLang="zh-TW" sz="6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altLang="zh-TW" sz="600" b="0" dirty="0" err="1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ssv_ble_ll_adv_params_t</a:t>
                      </a:r>
                      <a:r>
                        <a:rPr lang="en-US" altLang="zh-TW" sz="6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endParaRPr lang="en-US" altLang="zh-TW" sz="900" b="0" dirty="0">
                        <a:solidFill>
                          <a:srgbClr val="4EC9B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ssv_ble_ll_set_rx_pkt_cb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 err="1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ssv_ble_ll_rx_pkt_cb_t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rx_pkt_cb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ssv_ble_ll_rx_pkt_handler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rx_packet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rx_len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ssv_ble_ll_init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ssv_ble_ll_deinit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ssv_ble_ll_set_advertising_data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raw_data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raw_data_len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ssv_ble_ll_set_scan_rsp_data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uint8_t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raw_data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raw_data_len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ssv_ble_ll_start_advertising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 err="1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ssv_ble_ll_adv_params_t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adv_params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ssv_ble_ll_stop_advertising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ssv_ble_ll_set_scan_params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 err="1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ssv_ble_ll_scan_params_t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*</a:t>
                      </a:r>
                      <a:r>
                        <a:rPr lang="en-US" altLang="zh-TW" sz="900" b="0" dirty="0" err="1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scan_params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ssv_ble_ll_start_scanning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uint32_t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duration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altLang="zh-TW" sz="900" b="0" dirty="0">
                          <a:solidFill>
                            <a:srgbClr val="4EC9B0"/>
                          </a:solidFill>
                          <a:effectLst/>
                          <a:latin typeface="Consolas" panose="020B0609020204030204" pitchFamily="49" charset="0"/>
                        </a:rPr>
                        <a:t>int32_t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zh-TW" sz="900" b="0" dirty="0" err="1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ssv_ble_ll_stop_scanning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zh-TW" sz="9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altLang="zh-TW" sz="9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20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FDE581-6FAD-7569-0837-5A8753F6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1998B-45C1-A2C9-B61A-77E4625F1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因著這次</a:t>
            </a:r>
            <a:r>
              <a:rPr lang="en-US" altLang="zh-TW" dirty="0" err="1"/>
              <a:t>ssv_ctl_common.h</a:t>
            </a:r>
            <a:r>
              <a:rPr lang="zh-TW" altLang="en-US" dirty="0"/>
              <a:t>有更新</a:t>
            </a:r>
            <a:r>
              <a:rPr lang="en-US" altLang="zh-TW" dirty="0"/>
              <a:t>, </a:t>
            </a:r>
            <a:r>
              <a:rPr lang="zh-TW" altLang="en-US" dirty="0"/>
              <a:t>為了避免出錯</a:t>
            </a:r>
            <a:r>
              <a:rPr lang="en-US" altLang="zh-TW" dirty="0"/>
              <a:t>, </a:t>
            </a:r>
            <a:r>
              <a:rPr lang="zh-TW" altLang="en-US" dirty="0"/>
              <a:t>請</a:t>
            </a:r>
            <a:r>
              <a:rPr lang="zh-TW" altLang="en-US" b="1" dirty="0">
                <a:solidFill>
                  <a:srgbClr val="FF0000"/>
                </a:solidFill>
              </a:rPr>
              <a:t>特別注意驅動與應用程式都需同時編譯更新</a:t>
            </a:r>
            <a:r>
              <a:rPr lang="en-US" altLang="zh-TW" dirty="0"/>
              <a:t>,</a:t>
            </a:r>
            <a:r>
              <a:rPr lang="zh-TW" altLang="en-US" dirty="0"/>
              <a:t> 因為兩者都有使用到此</a:t>
            </a:r>
            <a:r>
              <a:rPr lang="en-US" altLang="zh-TW" dirty="0"/>
              <a:t>header file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823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 you</a:t>
            </a:r>
            <a:endParaRPr lang="zh-TW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8c113a2-d51e-4114-95d9-f8869b93564b"/>
  <p:tag name="COMMONDATA" val="eyJoZGlkIjoiM2U1OGJlMzUxZGQ3NWU5ZWY5Mzg1YWQ2OTUxY2I2M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佈景主題1">
  <a:themeElements>
    <a:clrScheme name="iCommsemi Color">
      <a:dk1>
        <a:srgbClr val="383841"/>
      </a:dk1>
      <a:lt1>
        <a:srgbClr val="FFFFFF"/>
      </a:lt1>
      <a:dk2>
        <a:srgbClr val="4E5059"/>
      </a:dk2>
      <a:lt2>
        <a:srgbClr val="D8E039"/>
      </a:lt2>
      <a:accent1>
        <a:srgbClr val="D8E039"/>
      </a:accent1>
      <a:accent2>
        <a:srgbClr val="004C74"/>
      </a:accent2>
      <a:accent3>
        <a:srgbClr val="C1C4C6"/>
      </a:accent3>
      <a:accent4>
        <a:srgbClr val="E72D30"/>
      </a:accent4>
      <a:accent5>
        <a:srgbClr val="00A886"/>
      </a:accent5>
      <a:accent6>
        <a:srgbClr val="FABD00"/>
      </a:accent6>
      <a:hlink>
        <a:srgbClr val="004C74"/>
      </a:hlink>
      <a:folHlink>
        <a:srgbClr val="004C74"/>
      </a:folHlink>
    </a:clrScheme>
    <a:fontScheme name="iCommsemi Type">
      <a:majorFont>
        <a:latin typeface="Century Gothic"/>
        <a:ea typeface="Microsoft YaHei"/>
        <a:cs typeface=""/>
      </a:majorFont>
      <a:minorFont>
        <a:latin typeface="Century Gothic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6526</TotalTime>
  <Words>1818</Words>
  <Application>Microsoft Office PowerPoint</Application>
  <PresentationFormat>如螢幕大小 (4:3)</PresentationFormat>
  <Paragraphs>209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Microsoft YaHei</vt:lpstr>
      <vt:lpstr>Arial</vt:lpstr>
      <vt:lpstr>Calibri</vt:lpstr>
      <vt:lpstr>Century Gothic</vt:lpstr>
      <vt:lpstr>Consolas</vt:lpstr>
      <vt:lpstr>Wingdings</vt:lpstr>
      <vt:lpstr>佈景主題1</vt:lpstr>
      <vt:lpstr>[6030] 支援BLE廣播配網</vt:lpstr>
      <vt:lpstr>需求</vt:lpstr>
      <vt:lpstr>PowerPoint 簡報</vt:lpstr>
      <vt:lpstr>目的</vt:lpstr>
      <vt:lpstr>Host driver啟動BLE收發app data</vt:lpstr>
      <vt:lpstr>BLE app收發BLE LL的data</vt:lpstr>
      <vt:lpstr>CLI指令範例</vt:lpstr>
      <vt:lpstr>實作項目</vt:lpstr>
      <vt:lpstr>BLE LL API</vt:lpstr>
      <vt:lpstr>注意事項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專利發想</dc:title>
  <dc:creator>leo.hung</dc:creator>
  <cp:lastModifiedBy>Yi-Hsiang Chiu</cp:lastModifiedBy>
  <cp:revision>661</cp:revision>
  <dcterms:created xsi:type="dcterms:W3CDTF">2020-04-06T01:41:00Z</dcterms:created>
  <dcterms:modified xsi:type="dcterms:W3CDTF">2023-05-12T02:34:21Z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F449ECF1FCB64D3C85FEA296CD42637E</vt:lpwstr>
  </property>
</Properties>
</file>